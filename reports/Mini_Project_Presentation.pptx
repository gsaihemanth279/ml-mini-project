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Pancreatic Cancer Prognosis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Machine Learning Theory Mini-Project</a:t>
            </a:r>
          </a:p>
          <a:p>
            <a:pPr>
              <a:defRPr sz="2000"/>
            </a:pPr>
            <a:r>
              <a:t>CPTAC-PDA clinical survival baseline</a:t>
            </a:r>
          </a:p>
          <a:p>
            <a:pPr>
              <a:defRPr sz="2000"/>
            </a:pPr>
            <a:r>
              <a:t>Reference: Stanford CS229 Jamalian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Investigate clinical predictors of survival ranking in pancreatic ductal adenocarcinoma</a:t>
            </a:r>
          </a:p>
          <a:p>
            <a:pPr>
              <a:defRPr sz="2000"/>
            </a:pPr>
            <a:r>
              <a:t>Survival analysis accounts for right-censored patients</a:t>
            </a:r>
          </a:p>
          <a:p>
            <a:pPr>
              <a:defRPr sz="2000"/>
            </a:pPr>
            <a:r>
              <a:t>Project reference motivates clinical + radiomic feature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PDC clinical export: 166 records</a:t>
            </a:r>
          </a:p>
          <a:p>
            <a:pPr>
              <a:defRPr sz="1700"/>
            </a:pPr>
            <a:r>
              <a:t>Cleaned analysis cohort: 143 cases</a:t>
            </a:r>
          </a:p>
          <a:p>
            <a:pPr>
              <a:defRPr sz="1700"/>
            </a:pPr>
            <a:r>
              <a:t>115 observed deaths; 28 alive/right-censored</a:t>
            </a:r>
          </a:p>
          <a:p>
            <a:pPr>
              <a:defRPr sz="1700"/>
            </a:pPr>
            <a:r>
              <a:t>Survival duration derived from Days to Death / Days to Last Follow 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Imaging Linkage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TCIA imaging manifest: 110 unique patient IDs</a:t>
            </a:r>
          </a:p>
          <a:p>
            <a:pPr>
              <a:defRPr sz="1700"/>
            </a:pPr>
            <a:r>
              <a:t>73 cleaned clinical cases match a TCIA imaging ID</a:t>
            </a:r>
          </a:p>
          <a:p>
            <a:pPr>
              <a:defRPr sz="1700"/>
            </a:pPr>
            <a:r>
              <a:t>ID overlap alone does not guarantee usable tumor masks or radiomic features</a:t>
            </a:r>
          </a:p>
          <a:p>
            <a:pPr>
              <a:defRPr sz="1700"/>
            </a:pPr>
            <a:r>
              <a:t>No images downloaded for this baseline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Penalized Cox proportional hazards model</a:t>
            </a:r>
          </a:p>
          <a:p>
            <a:pPr>
              <a:defRPr sz="1700"/>
            </a:pPr>
            <a:r>
              <a:t>Predictors: age, sex, grouped tumor grade</a:t>
            </a:r>
          </a:p>
          <a:p>
            <a:pPr>
              <a:defRPr sz="1700"/>
            </a:pPr>
            <a:r>
              <a:t>5-fold shuffled cross-validation; seed 42</a:t>
            </a:r>
          </a:p>
          <a:p>
            <a:pPr>
              <a:defRPr sz="1700"/>
            </a:pPr>
            <a:r>
              <a:t>Preprocessing fitted within each training fold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(Clinical-Only Baseline)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Mean fold C-index: 0.567 (SD 0.043)</a:t>
            </a:r>
          </a:p>
          <a:p>
            <a:pPr>
              <a:defRPr sz="1700"/>
            </a:pPr>
            <a:r>
              <a:t>Pooled out-of-fold C-index: 0.574</a:t>
            </a:r>
          </a:p>
          <a:p>
            <a:pPr>
              <a:defRPr sz="1700"/>
            </a:pPr>
            <a:r>
              <a:t>Exploratory internal estimate; small cohort and limited predictors</a:t>
            </a:r>
          </a:p>
          <a:p>
            <a:pPr>
              <a:defRPr sz="1700"/>
            </a:pPr>
            <a:r>
              <a:t>Not external clinical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Radiomic features have not yet been integrated</a:t>
            </a:r>
          </a:p>
          <a:p>
            <a:pPr>
              <a:defRPr sz="1700"/>
            </a:pPr>
            <a:r>
              <a:t>Need tumor annotations + extracted radiomic features for matched cases</a:t>
            </a:r>
          </a:p>
          <a:p>
            <a:pPr>
              <a:defRPr sz="1700"/>
            </a:pPr>
            <a:r>
              <a:t>Then compare clinical-only, radiomic-only and combined models</a:t>
            </a:r>
          </a:p>
          <a:p>
            <a:pPr>
              <a:defRPr sz="1700"/>
            </a:pPr>
            <a:r>
              <a:t>Do not claim the reference paper's performance as our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A reproducible clinical-only survival-analysis baseline is implemented</a:t>
            </a:r>
          </a:p>
          <a:p>
            <a:pPr>
              <a:defRPr sz="1700"/>
            </a:pPr>
            <a:r>
              <a:t>Outcome cleaning, audit, cross-validation and plots are saved in the repository</a:t>
            </a:r>
          </a:p>
          <a:p>
            <a:pPr>
              <a:defRPr sz="1700"/>
            </a:pPr>
            <a:r>
              <a:t>The full clinical-plus-radiomic project remains incomplete until radiomics are integrated</a:t>
            </a:r>
          </a:p>
          <a:p>
            <a:pPr>
              <a:defRPr sz="1700"/>
            </a:pPr>
            <a:r>
              <a:t>Educational use only; not for clinical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