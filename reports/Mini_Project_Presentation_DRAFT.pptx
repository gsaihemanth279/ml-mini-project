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Pancreatic Cancer Prognosis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Machine Learning Mini-Project — UE24CS352A</a:t>
            </a:r>
          </a:p>
          <a:p>
            <a:pPr>
              <a:defRPr sz="2200"/>
            </a:pPr>
            <a:r>
              <a:t>Reference: Jamalian, Stanford CS229 (2020)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Explore associations between clinical/radiomic features and survival outcomes</a:t>
            </a:r>
          </a:p>
          <a:p>
            <a:pPr>
              <a:defRPr sz="2200"/>
            </a:pPr>
            <a:r>
              <a:t>Use survival analysis; do not claim diagnosis or clinical utility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80 patients described</a:t>
            </a:r>
          </a:p>
          <a:p>
            <a:pPr>
              <a:defRPr sz="1900"/>
            </a:pPr>
            <a:r>
              <a:t>900 MRI-derived radiomic features per patient</a:t>
            </a:r>
          </a:p>
          <a:p>
            <a:pPr>
              <a:defRPr sz="1900"/>
            </a:pPr>
            <a:r>
              <a:t>Clinical data included stage, KPS, therapies and tumor characteristics</a:t>
            </a:r>
          </a:p>
          <a:p>
            <a:pPr>
              <a:defRPr sz="1900"/>
            </a:pPr>
            <a:r>
              <a:t>Original dataset was shared under NDA and is not included in the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Verified public/authorized de-identified patient-level data</a:t>
            </a:r>
          </a:p>
          <a:p>
            <a:pPr>
              <a:defRPr sz="1900"/>
            </a:pPr>
            <a:r>
              <a:t>survival_days: follow-up duration</a:t>
            </a:r>
          </a:p>
          <a:p>
            <a:pPr>
              <a:defRPr sz="1900"/>
            </a:pPr>
            <a:r>
              <a:t>event: 1 observed event, 0 right-censored</a:t>
            </a:r>
          </a:p>
          <a:p>
            <a:pPr>
              <a:defRPr sz="1900"/>
            </a:pPr>
            <a:r>
              <a:t>Clinical/radiomic predictors matched by patient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Validate and clean data</a:t>
            </a:r>
          </a:p>
          <a:p>
            <a:pPr>
              <a:defRPr sz="1900"/>
            </a:pPr>
            <a:r>
              <a:t>Encode categorical features and handle missing predictors</a:t>
            </a:r>
          </a:p>
          <a:p>
            <a:pPr>
              <a:defRPr sz="1900"/>
            </a:pPr>
            <a:r>
              <a:t>Fit penalized Cox proportional hazards model</a:t>
            </a:r>
          </a:p>
          <a:p>
            <a:pPr>
              <a:defRPr sz="1900"/>
            </a:pPr>
            <a:r>
              <a:t>Evaluate with held-out or cross-validation C-index</a:t>
            </a:r>
          </a:p>
          <a:p>
            <a:pPr>
              <a:defRPr sz="1900"/>
            </a:pPr>
            <a:r>
              <a:t>Visualize risk scores and Kaplan–Meier curves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Never claim the paper's 0.82 C-index as our own result</a:t>
            </a:r>
          </a:p>
          <a:p>
            <a:pPr>
              <a:defRPr sz="1900"/>
            </a:pPr>
            <a:r>
              <a:t>Training score is not held-out performance</a:t>
            </a:r>
          </a:p>
          <a:p>
            <a:pPr>
              <a:defRPr sz="1900"/>
            </a:pPr>
            <a:r>
              <a:t>Avoid data leakage and document limitations</a:t>
            </a:r>
          </a:p>
          <a:p>
            <a:pPr>
              <a:defRPr sz="1900"/>
            </a:pPr>
            <a:r>
              <a:t>Small datasets can overfit severely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Project code scaffold and draft documents prepared</a:t>
            </a:r>
          </a:p>
          <a:p>
            <a:pPr>
              <a:defRPr sz="1900"/>
            </a:pPr>
            <a:r>
              <a:t>Dataset still must be verified and added</a:t>
            </a:r>
          </a:p>
          <a:p>
            <a:pPr>
              <a:defRPr sz="1900"/>
            </a:pPr>
            <a:r>
              <a:t>Run pipeline and replace draft claims with actual results</a:t>
            </a:r>
          </a:p>
          <a:p>
            <a:pPr>
              <a:defRPr sz="1900"/>
            </a:pPr>
            <a:r>
              <a:t>Prepare for demo and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